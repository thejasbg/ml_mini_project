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100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project: we classify IMDb reviews as positive or negative using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input, processing and output. Our goal is to compare algorithms and feature representations.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50,000-review dataset and the rating thresholds used to create binary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pipeline in order: clean text, vectorize, train, evaluate.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three representations simply. Mention that 3-grams represent three consecutive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describe what each algorithm does; do not go into equations unless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precision as reliability of predictions for a class, and accuracy as overall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DNN 90.6%, SVM 90.1%, and logistic regression 90.0%. Say these are the reported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main lessons and mention possible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panel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78240" y="0"/>
            <a:ext cx="164592" cy="6858000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45167" y="0"/>
            <a:ext cx="164592" cy="68580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12096" y="0"/>
            <a:ext cx="164592" cy="685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132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2DCD2"/>
                </a:solidFill>
                <a:latin typeface="Aptos"/>
              </a:rPr>
              <a:t>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758952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Sentiment Analysis
of IMDb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1323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DCE5EF"/>
                </a:solidFill>
                <a:latin typeface="Aptos"/>
              </a:rPr>
              <a:t>Classifying movie reviews as positive or negative using machine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00600"/>
            <a:ext cx="1417320" cy="438912"/>
          </a:xfrm>
          <a:prstGeom prst="round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882896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NLP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4800600"/>
            <a:ext cx="1417320" cy="438912"/>
          </a:xfrm>
          <a:prstGeom prst="round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9464" y="4882896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Text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800600"/>
            <a:ext cx="1417320" cy="438912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61104" y="4882896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FFFFFF"/>
                </a:solidFill>
                <a:latin typeface="Aptos"/>
              </a:rPr>
              <a:t>Team members: </a:t>
            </a:r>
            <a:r>
              <a:rPr lang="en-US" sz="1400" b="0" dirty="0">
                <a:solidFill>
                  <a:srgbClr val="FFFFFF"/>
                </a:solidFill>
                <a:latin typeface="Aptos"/>
              </a:rPr>
              <a:t>Nikhil &amp; </a:t>
            </a:r>
            <a:r>
              <a:rPr lang="en-US" sz="1400" b="0" dirty="0" err="1">
                <a:solidFill>
                  <a:srgbClr val="FFFFFF"/>
                </a:solidFill>
                <a:latin typeface="Aptos"/>
              </a:rPr>
              <a:t>Thejas</a:t>
            </a:r>
            <a:endParaRPr sz="1400" b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233A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D6B7D"/>
                </a:solidFill>
                <a:latin typeface="Aptos"/>
              </a:rPr>
              <a:t>What are we trying to solve?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60120" cy="50292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D6B7D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D"/>
                </a:solidFill>
                <a:latin typeface="Aptos"/>
              </a:rPr>
              <a:t>IMDb Sentiment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233A"/>
                </a:solidFill>
                <a:latin typeface="Aptos"/>
              </a:rPr>
              <a:t>Can a machine learning model identify whether an IMDb review expresses positive or negative sentiment?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333756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953512"/>
            <a:ext cx="64008" cy="1911095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04495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447288"/>
            <a:ext cx="2971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D6B7D"/>
                </a:solidFill>
                <a:latin typeface="Aptos"/>
              </a:rPr>
              <a:t>A written movie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880360"/>
            <a:ext cx="333756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2953512"/>
            <a:ext cx="64008" cy="1911095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304495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3447288"/>
            <a:ext cx="2971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D6B7D"/>
                </a:solidFill>
                <a:latin typeface="Aptos"/>
              </a:rPr>
              <a:t>Convert text into numerical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880360"/>
            <a:ext cx="333756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953512"/>
            <a:ext cx="64008" cy="1911095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304495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447288"/>
            <a:ext cx="2971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D6B7D"/>
                </a:solidFill>
                <a:latin typeface="Aptos"/>
              </a:rPr>
              <a:t>Positive or negative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D6B7D"/>
                </a:solidFill>
                <a:latin typeface="Aptos"/>
              </a:rPr>
              <a:t>Goal: compare different algorithms and feature representations to see which performs best.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233A"/>
                </a:solidFill>
                <a:latin typeface="Apto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D6B7D"/>
                </a:solidFill>
                <a:latin typeface="Aptos"/>
              </a:rPr>
              <a:t>IMDb reviews used for binary sentiment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60120" cy="50292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D6B7D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D"/>
                </a:solidFill>
                <a:latin typeface="Aptos"/>
              </a:rPr>
              <a:t>IMDb Sentiment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33756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19072"/>
            <a:ext cx="64008" cy="1453896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81051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233A"/>
                </a:solidFill>
                <a:latin typeface="Aptos"/>
              </a:rPr>
              <a:t>50,000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12848"/>
            <a:ext cx="2971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D6B7D"/>
                </a:solidFill>
                <a:latin typeface="Aptos"/>
              </a:rPr>
              <a:t>25,000 for training
25,000 for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33756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719072"/>
            <a:ext cx="64008" cy="1453896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81051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233A"/>
                </a:solidFill>
                <a:latin typeface="Aptos"/>
              </a:rPr>
              <a:t>Balanced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12848"/>
            <a:ext cx="2971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D6B7D"/>
                </a:solidFill>
                <a:latin typeface="Aptos"/>
              </a:rPr>
              <a:t>50% positive
50% negative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3756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19072"/>
            <a:ext cx="64008" cy="145389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Rating-based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12848"/>
            <a:ext cx="2971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D6B7D"/>
                </a:solidFill>
                <a:latin typeface="Aptos"/>
              </a:rPr>
              <a:t>Below 4 → Negative
Above 7 → Positive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Reviews rated from 4 to 7 were excluded, following the report's label definition.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D6B7D"/>
                </a:solidFill>
                <a:latin typeface="Aptos"/>
              </a:rPr>
              <a:t>Why split the data?  Training fits the model; testing checks performance on unseen reviews.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233A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D6B7D"/>
                </a:solidFill>
                <a:latin typeface="Aptos"/>
              </a:rPr>
              <a:t>From raw text to a sentiment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60120" cy="50292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D6B7D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D"/>
                </a:solidFill>
                <a:latin typeface="Aptos"/>
              </a:rPr>
              <a:t>IMDb Sentiment Analysis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746504"/>
            <a:ext cx="274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72768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Clean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72768"/>
            <a:ext cx="74066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D6B7D"/>
                </a:solidFill>
                <a:latin typeface="Aptos"/>
              </a:rPr>
              <a:t>Lowercase; remove selected punctuation, numbers and stop words; normalize word forms.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39696"/>
            <a:ext cx="274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5D6B7D"/>
                </a:solidFill>
                <a:latin typeface="Aptos"/>
              </a:rPr>
              <a:t>↓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724912"/>
            <a:ext cx="502920" cy="502920"/>
          </a:xfrm>
          <a:prstGeom prst="ellipse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2825496"/>
            <a:ext cx="274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5176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Vectorize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74066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D6B7D"/>
                </a:solidFill>
                <a:latin typeface="Aptos"/>
              </a:rPr>
              <a:t>Convert reviews into numerical features using binary, word-count or TF-IDF representations; use 3-grams.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18688"/>
            <a:ext cx="274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5D6B7D"/>
                </a:solidFill>
                <a:latin typeface="Aptos"/>
              </a:rPr>
              <a:t>↓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803904"/>
            <a:ext cx="502920" cy="50292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3904488"/>
            <a:ext cx="274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3075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Train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730752"/>
            <a:ext cx="74066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D6B7D"/>
                </a:solidFill>
                <a:latin typeface="Aptos"/>
              </a:rPr>
              <a:t>Fit the six classification algorithms on the training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297680"/>
            <a:ext cx="274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5D6B7D"/>
                </a:solidFill>
                <a:latin typeface="Aptos"/>
              </a:rPr>
              <a:t>↓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82896"/>
            <a:ext cx="502920" cy="502920"/>
          </a:xfrm>
          <a:prstGeom prst="ellipse">
            <a:avLst/>
          </a:prstGeom>
          <a:solidFill>
            <a:srgbClr val="278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4983480"/>
            <a:ext cx="274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809744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09744"/>
            <a:ext cx="74066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D6B7D"/>
                </a:solidFill>
                <a:latin typeface="Aptos"/>
              </a:rPr>
              <a:t>Compare predictions using precision and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233A"/>
                </a:solidFill>
                <a:latin typeface="Aptos"/>
              </a:rPr>
              <a:t>Text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D6B7D"/>
                </a:solidFill>
                <a:latin typeface="Aptos"/>
              </a:rPr>
              <a:t>How do we turn reviews into numbers?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60120" cy="50292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D6B7D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D"/>
                </a:solidFill>
                <a:latin typeface="Aptos"/>
              </a:rPr>
              <a:t>IMDb Sentiment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333756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73352"/>
            <a:ext cx="64008" cy="1499616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6479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Binary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67128"/>
            <a:ext cx="2971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D6B7D"/>
                </a:solidFill>
                <a:latin typeface="Aptos"/>
              </a:rPr>
              <a:t>1 if a feature appears;
0 if it does not.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33756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673352"/>
            <a:ext cx="64008" cy="1499616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76479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Word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167128"/>
            <a:ext cx="2971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D6B7D"/>
                </a:solidFill>
                <a:latin typeface="Aptos"/>
              </a:rPr>
              <a:t>Records how many times
a feature appears.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33756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73352"/>
            <a:ext cx="64008" cy="149961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6479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TF-IDF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67128"/>
            <a:ext cx="2971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D6B7D"/>
                </a:solidFill>
                <a:latin typeface="Aptos"/>
              </a:rPr>
              <a:t>Weights terms by their frequency
and document-level rarity.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233A"/>
                </a:solidFill>
                <a:latin typeface="Aptos"/>
              </a:rPr>
              <a:t>3-grams capture short sequences of three consecutive words, helping represent phrases.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058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D6B7D"/>
                </a:solidFill>
                <a:latin typeface="Aptos"/>
              </a:rPr>
              <a:t>Example: “not very good” can carry a different sentiment from “very good.”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233A"/>
                </a:solidFill>
                <a:latin typeface="Aptos"/>
              </a:rPr>
              <a:t>Models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D6B7D"/>
                </a:solidFill>
                <a:latin typeface="Aptos"/>
              </a:rPr>
              <a:t>Six approaches were evaluated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60120" cy="50292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D6B7D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D"/>
                </a:solidFill>
                <a:latin typeface="Aptos"/>
              </a:rPr>
              <a:t>IMDb Sentiment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333756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73352"/>
            <a:ext cx="64008" cy="1408176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6479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6712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D6B7D"/>
                </a:solidFill>
                <a:latin typeface="Aptos"/>
              </a:rPr>
              <a:t>Learns a weighted decision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33756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673352"/>
            <a:ext cx="64008" cy="1408176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76479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16712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D6B7D"/>
                </a:solidFill>
                <a:latin typeface="Aptos"/>
              </a:rPr>
              <a:t>Finds a separating boundary with a large margin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33756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673352"/>
            <a:ext cx="64008" cy="14081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76479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Naïve Bayes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16712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D6B7D"/>
                </a:solidFill>
                <a:latin typeface="Aptos"/>
              </a:rPr>
              <a:t>Uses probabilities and Bayes’ theorem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57600"/>
            <a:ext cx="333756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730752"/>
            <a:ext cx="64008" cy="1408176"/>
          </a:xfrm>
          <a:prstGeom prst="rect">
            <a:avLst/>
          </a:prstGeom>
          <a:solidFill>
            <a:srgbClr val="278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3822191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22452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D6B7D"/>
                </a:solidFill>
                <a:latin typeface="Aptos"/>
              </a:rPr>
              <a:t>Combines predictions from many decision trees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657600"/>
            <a:ext cx="333756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730752"/>
            <a:ext cx="64008" cy="1408176"/>
          </a:xfrm>
          <a:prstGeom prst="rect">
            <a:avLst/>
          </a:prstGeom>
          <a:solidFill>
            <a:srgbClr val="B9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1728" y="3822191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Boosting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22452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D6B7D"/>
                </a:solidFill>
                <a:latin typeface="Aptos"/>
              </a:rPr>
              <a:t>Builds learners sequentially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657600"/>
            <a:ext cx="333756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3730752"/>
            <a:ext cx="64008" cy="1408176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8" y="3822191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Deep Neural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22452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D6B7D"/>
                </a:solidFill>
                <a:latin typeface="Aptos"/>
              </a:rPr>
              <a:t>Learns nonlinear feature combinations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233A"/>
                </a:solidFill>
                <a:latin typeface="Aptos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D6B7D"/>
                </a:solidFill>
                <a:latin typeface="Aptos"/>
              </a:rPr>
              <a:t>How do we judge model performance?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60120" cy="50292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D6B7D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D"/>
                </a:solidFill>
                <a:latin typeface="Aptos"/>
              </a:rPr>
              <a:t>IMDb Sentiment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3375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810512"/>
            <a:ext cx="64008" cy="1682496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90195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Positive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04288"/>
            <a:ext cx="29718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D6B7D"/>
                </a:solidFill>
                <a:latin typeface="Aptos"/>
              </a:rPr>
              <a:t>Of reviews predicted positive, how many were actually positive?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3375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810512"/>
            <a:ext cx="64008" cy="1682496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90195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Negative 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304288"/>
            <a:ext cx="29718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D6B7D"/>
                </a:solidFill>
                <a:latin typeface="Aptos"/>
              </a:rPr>
              <a:t>Of reviews predicted negative, how many were actually negative?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375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10512"/>
            <a:ext cx="64008" cy="168249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01952"/>
            <a:ext cx="29900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04288"/>
            <a:ext cx="29718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D6B7D"/>
                </a:solidFill>
                <a:latin typeface="Aptos"/>
              </a:rPr>
              <a:t>Fraction of all reviews classified correctly.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241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6233A"/>
                </a:solidFill>
                <a:latin typeface="Aptos"/>
              </a:rPr>
              <a:t>Accuracy = (True Positives + True Negatives) ÷ Total 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D6B7D"/>
                </a:solidFill>
                <a:latin typeface="Aptos"/>
              </a:rPr>
              <a:t>A confusion matrix tracks correct and incorrect positive/negative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233A"/>
                </a:solidFill>
                <a:latin typeface="Apto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D6B7D"/>
                </a:solidFill>
                <a:latin typeface="Aptos"/>
              </a:rPr>
              <a:t>Best reported accuracy for each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60120" cy="50292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D6B7D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D"/>
                </a:solidFill>
                <a:latin typeface="Aptos"/>
              </a:rPr>
              <a:t>IMDb Sentiment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DNN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572768"/>
            <a:ext cx="6217920" cy="256032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08960" y="1572768"/>
            <a:ext cx="5633435" cy="256032"/>
          </a:xfrm>
          <a:prstGeom prst="round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55480" y="1536192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90.6%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SVM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286000"/>
            <a:ext cx="6217920" cy="256032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108960" y="2286000"/>
            <a:ext cx="5602345" cy="256032"/>
          </a:xfrm>
          <a:prstGeom prst="round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55480" y="2249424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90.1%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80944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Logistic Regression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2999232"/>
            <a:ext cx="6217920" cy="256032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08960" y="2999232"/>
            <a:ext cx="5596128" cy="256032"/>
          </a:xfrm>
          <a:prstGeom prst="round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2962656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90.0%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94176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Naïve Bayes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3712463"/>
            <a:ext cx="6217920" cy="256032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108960" y="3712463"/>
            <a:ext cx="5477987" cy="256032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55480" y="3675888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88.1%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07408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Random Forest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425696"/>
            <a:ext cx="6217920" cy="256032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108960" y="4425696"/>
            <a:ext cx="5297667" cy="256032"/>
          </a:xfrm>
          <a:prstGeom prst="roundRect">
            <a:avLst/>
          </a:prstGeom>
          <a:solidFill>
            <a:srgbClr val="B9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55480" y="438912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85.2%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2064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233A"/>
                </a:solidFill>
                <a:latin typeface="Aptos"/>
              </a:rPr>
              <a:t>Boosting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5138928"/>
            <a:ext cx="6217920" cy="256032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108960" y="5138928"/>
            <a:ext cx="5185745" cy="256032"/>
          </a:xfrm>
          <a:prstGeom prst="roundRect">
            <a:avLst/>
          </a:prstGeom>
          <a:solidFill>
            <a:srgbClr val="B9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55480" y="5102352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83.4%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918B"/>
                </a:solidFill>
                <a:latin typeface="Aptos"/>
              </a:rPr>
              <a:t>Best configuration overall: DNN + binary 3-gram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233A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D6B7D"/>
                </a:solidFill>
                <a:latin typeface="Aptos"/>
              </a:rPr>
              <a:t>What did we learn?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60120" cy="50292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D6B7D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D"/>
                </a:solidFill>
                <a:latin typeface="Aptos"/>
              </a:rPr>
              <a:t>IMDb Sentiment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749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19072"/>
            <a:ext cx="64008" cy="1362456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810512"/>
            <a:ext cx="47274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1. Feature representation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12848"/>
            <a:ext cx="4709159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D6B7D"/>
                </a:solidFill>
                <a:latin typeface="Aptos"/>
              </a:rPr>
              <a:t>The way text is converted into numbers affects model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0749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19072"/>
            <a:ext cx="64008" cy="1362456"/>
          </a:xfrm>
          <a:prstGeom prst="rect">
            <a:avLst/>
          </a:prstGeom>
          <a:solidFill>
            <a:srgbClr val="1F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810512"/>
            <a:ext cx="47274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2. DNN scored highest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12848"/>
            <a:ext cx="4709159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D6B7D"/>
                </a:solidFill>
                <a:latin typeface="Aptos"/>
              </a:rPr>
              <a:t>The report's best result was 90.6% accuracy.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20440"/>
            <a:ext cx="50749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593592"/>
            <a:ext cx="64008" cy="136245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685032"/>
            <a:ext cx="47274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3. Simpler models were competitive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087368"/>
            <a:ext cx="4709159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D6B7D"/>
                </a:solidFill>
                <a:latin typeface="Aptos"/>
              </a:rPr>
              <a:t>SVM and logistic regression reached about 90% accuracy.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20440"/>
            <a:ext cx="50749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593592"/>
            <a:ext cx="64008" cy="1362456"/>
          </a:xfrm>
          <a:prstGeom prst="rect">
            <a:avLst/>
          </a:prstGeom>
          <a:solidFill>
            <a:srgbClr val="278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685032"/>
            <a:ext cx="47274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233A"/>
                </a:solidFill>
                <a:latin typeface="Aptos"/>
              </a:rPr>
              <a:t>4. 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087368"/>
            <a:ext cx="4709159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D6B7D"/>
                </a:solidFill>
                <a:latin typeface="Aptos"/>
              </a:rPr>
              <a:t>Try additional text features and sequence-aware models such as RNNs.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D6B7D"/>
                </a:solidFill>
                <a:latin typeface="Aptos"/>
              </a:rPr>
              <a:t>Note: these are the report's results; they depend on its dataset and experimental setup.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dirty="0">
                <a:solidFill>
                  <a:srgbClr val="DCE5EF"/>
                </a:solidFill>
                <a:latin typeface="Aptos"/>
              </a:rPr>
              <a:t>Sentiment Analysis of IMDb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721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2026-10-13T04:37:00Z</dcterms:modified>
  <cp:category/>
</cp:coreProperties>
</file>